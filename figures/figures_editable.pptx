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 1. The normative release 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1554480" cy="594360"/>
          </a:xfrm>
          <a:prstGeom prst="roundRect">
            <a:avLst/>
          </a:prstGeom>
          <a:solidFill>
            <a:srgbClr val="EAF1FB"/>
          </a:solidFill>
          <a:ln>
            <a:solidFill>
              <a:srgbClr val="355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Problem (t)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03120" y="914400"/>
            <a:ext cx="1554480" cy="594360"/>
          </a:xfrm>
          <a:prstGeom prst="roundRect">
            <a:avLst/>
          </a:prstGeom>
          <a:solidFill>
            <a:srgbClr val="EAF1FB"/>
          </a:solidFill>
          <a:ln>
            <a:solidFill>
              <a:srgbClr val="355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Norm (t)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914400"/>
            <a:ext cx="1554480" cy="594360"/>
          </a:xfrm>
          <a:prstGeom prst="roundRect">
            <a:avLst/>
          </a:prstGeom>
          <a:solidFill>
            <a:srgbClr val="EAF1FB"/>
          </a:solidFill>
          <a:ln>
            <a:solidFill>
              <a:srgbClr val="355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Religious scaffold (t)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2011680"/>
            <a:ext cx="1554480" cy="594360"/>
          </a:xfrm>
          <a:prstGeom prst="roundRect">
            <a:avLst/>
          </a:prstGeom>
          <a:solidFill>
            <a:srgbClr val="EAF1FB"/>
          </a:solidFill>
          <a:ln>
            <a:solidFill>
              <a:srgbClr val="355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Narrative / ritual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2011680"/>
            <a:ext cx="1554480" cy="594360"/>
          </a:xfrm>
          <a:prstGeom prst="roundRect">
            <a:avLst/>
          </a:prstGeom>
          <a:solidFill>
            <a:srgbClr val="EAF1FB"/>
          </a:solidFill>
          <a:ln>
            <a:solidFill>
              <a:srgbClr val="355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Recursive incorporation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011680"/>
            <a:ext cx="1554480" cy="594360"/>
          </a:xfrm>
          <a:prstGeom prst="roundRect">
            <a:avLst/>
          </a:prstGeom>
          <a:solidFill>
            <a:srgbClr val="EAF1FB"/>
          </a:solidFill>
          <a:ln>
            <a:solidFill>
              <a:srgbClr val="355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Internalisation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108960"/>
            <a:ext cx="1554480" cy="594360"/>
          </a:xfrm>
          <a:prstGeom prst="roundRect">
            <a:avLst/>
          </a:prstGeom>
          <a:solidFill>
            <a:srgbClr val="FDEEDB"/>
          </a:solidFill>
          <a:ln>
            <a:solidFill>
              <a:srgbClr val="B06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Normative release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3108960"/>
            <a:ext cx="1554480" cy="594360"/>
          </a:xfrm>
          <a:prstGeom prst="roundRect">
            <a:avLst/>
          </a:prstGeom>
          <a:solidFill>
            <a:srgbClr val="EAF1FB"/>
          </a:solidFill>
          <a:ln>
            <a:solidFill>
              <a:srgbClr val="355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Contextual change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3108960"/>
            <a:ext cx="1554480" cy="594360"/>
          </a:xfrm>
          <a:prstGeom prst="roundRect">
            <a:avLst/>
          </a:prstGeom>
          <a:solidFill>
            <a:srgbClr val="EAF1FB"/>
          </a:solidFill>
          <a:ln>
            <a:solidFill>
              <a:srgbClr val="355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New problem (t+1)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4206240"/>
            <a:ext cx="1554480" cy="594360"/>
          </a:xfrm>
          <a:prstGeom prst="roundRect">
            <a:avLst/>
          </a:prstGeom>
          <a:solidFill>
            <a:srgbClr val="EAF1FB"/>
          </a:solidFill>
          <a:ln>
            <a:solidFill>
              <a:srgbClr val="355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New norm (t+1)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4206240"/>
            <a:ext cx="1554480" cy="594360"/>
          </a:xfrm>
          <a:prstGeom prst="roundRect">
            <a:avLst/>
          </a:prstGeom>
          <a:solidFill>
            <a:srgbClr val="EAF1FB"/>
          </a:solidFill>
          <a:ln>
            <a:solidFill>
              <a:srgbClr val="355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Subsequent transmission pathway (where applicable)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 2. Four persistence models vs. normative release (rows: persists / recedes)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22960"/>
            <a:ext cx="1554480" cy="594360"/>
          </a:xfrm>
          <a:prstGeom prst="roundRect">
            <a:avLst/>
          </a:prstGeom>
          <a:solidFill>
            <a:srgbClr val="EAF1FB"/>
          </a:solidFill>
          <a:ln>
            <a:solidFill>
              <a:srgbClr val="355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Survival (Anscombe)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00200"/>
            <a:ext cx="1554480" cy="594360"/>
          </a:xfrm>
          <a:prstGeom prst="roundRect">
            <a:avLst/>
          </a:prstGeom>
          <a:solidFill>
            <a:srgbClr val="EAF1FB"/>
          </a:solidFill>
          <a:ln>
            <a:solidFill>
              <a:srgbClr val="355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Residue effect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377440"/>
            <a:ext cx="1554480" cy="594360"/>
          </a:xfrm>
          <a:prstGeom prst="roundRect">
            <a:avLst/>
          </a:prstGeom>
          <a:solidFill>
            <a:srgbClr val="EAF1FB"/>
          </a:solidFill>
          <a:ln>
            <a:solidFill>
              <a:srgbClr val="355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Deus otiosus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154679"/>
            <a:ext cx="1554480" cy="594360"/>
          </a:xfrm>
          <a:prstGeom prst="roundRect">
            <a:avLst/>
          </a:prstGeom>
          <a:solidFill>
            <a:srgbClr val="EAF1FB"/>
          </a:solidFill>
          <a:ln>
            <a:solidFill>
              <a:srgbClr val="355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Vestigialisation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931920"/>
            <a:ext cx="1554480" cy="594360"/>
          </a:xfrm>
          <a:prstGeom prst="roundRect">
            <a:avLst/>
          </a:prstGeom>
          <a:solidFill>
            <a:srgbClr val="FDEEDB"/>
          </a:solidFill>
          <a:ln>
            <a:solidFill>
              <a:srgbClr val="B06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Normative release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 3. Revival without restoration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463040"/>
            <a:ext cx="1554480" cy="594360"/>
          </a:xfrm>
          <a:prstGeom prst="roundRect">
            <a:avLst/>
          </a:prstGeom>
          <a:solidFill>
            <a:srgbClr val="EAF1FB"/>
          </a:solidFill>
          <a:ln>
            <a:solidFill>
              <a:srgbClr val="355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Dormant normative repertoire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57400" y="1463040"/>
            <a:ext cx="1554480" cy="594360"/>
          </a:xfrm>
          <a:prstGeom prst="roundRect">
            <a:avLst/>
          </a:prstGeom>
          <a:solidFill>
            <a:srgbClr val="EAF1FB"/>
          </a:solidFill>
          <a:ln>
            <a:solidFill>
              <a:srgbClr val="355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Retrieval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463040"/>
            <a:ext cx="1554480" cy="594360"/>
          </a:xfrm>
          <a:prstGeom prst="roundRect">
            <a:avLst/>
          </a:prstGeom>
          <a:solidFill>
            <a:srgbClr val="FDEEDB"/>
          </a:solidFill>
          <a:ln>
            <a:solidFill>
              <a:srgbClr val="B06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Critical reflection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59" y="1463040"/>
            <a:ext cx="1554480" cy="594360"/>
          </a:xfrm>
          <a:prstGeom prst="roundRect">
            <a:avLst/>
          </a:prstGeom>
          <a:solidFill>
            <a:srgbClr val="FDEEDB"/>
          </a:solidFill>
          <a:ln>
            <a:solidFill>
              <a:srgbClr val="B06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Selective reintegration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463040"/>
            <a:ext cx="1554480" cy="594360"/>
          </a:xfrm>
          <a:prstGeom prst="roundRect">
            <a:avLst/>
          </a:prstGeom>
          <a:solidFill>
            <a:srgbClr val="EAF1FB"/>
          </a:solidFill>
          <a:ln>
            <a:solidFill>
              <a:srgbClr val="355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000"/>
              <a:t>Renewed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